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1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7C66"/>
    <a:srgbClr val="230C33"/>
    <a:srgbClr val="CAA8F6"/>
    <a:srgbClr val="F8EBEC"/>
    <a:srgbClr val="59656F"/>
    <a:srgbClr val="1D1E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2838BEF-8BB2-4498-84A7-C5851F593DF1}" styleName="Medium Style 4 –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Medium Style 4 –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21"/>
    <p:restoredTop sz="94677"/>
  </p:normalViewPr>
  <p:slideViewPr>
    <p:cSldViewPr snapToGrid="0">
      <p:cViewPr>
        <p:scale>
          <a:sx n="119" d="100"/>
          <a:sy n="119" d="100"/>
        </p:scale>
        <p:origin x="120" y="2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7F6C-E9C8-FD88-6842-B729DAD312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10DADB-995F-21B3-623A-C0C6A3F52C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60D5B-94DF-C69A-9D28-124F6A497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81A75-8218-F444-8A75-48E947B73000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B45E6-C595-1047-B3EE-AAC426A16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F06D0-D819-AA44-3068-71BEB329E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135A4-35AE-7A43-A3B1-F338CE468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484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DF461-67CA-6F8E-70C1-8FC4C2EE6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7823C-A4B7-92FE-2478-5860A732E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48351-EE39-F07A-2AA9-966B3BB93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81A75-8218-F444-8A75-48E947B73000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A47B7-A90E-A623-22E1-2AB765238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AEC5C-17DC-17EE-4F5B-19876856B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135A4-35AE-7A43-A3B1-F338CE468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736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45D82-20B6-5663-9C52-FBEE004BE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40860-744C-7913-1C20-A9F37E911E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1D89B-DFC3-8B90-D381-6AA2835DA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81A75-8218-F444-8A75-48E947B73000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1E226-6C74-9F8D-773D-F6C64E745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E6DA3-25D6-7AA0-C65D-85221C1D5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135A4-35AE-7A43-A3B1-F338CE468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492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CBCA6-0723-B443-A241-DECD30BDF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375DB-C774-44B7-1755-1DF1216CBC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E732F1-A0C2-7312-C8ED-E5F3C5CD49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CC3D1B-8D21-6501-0F70-2DF689A09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81A75-8218-F444-8A75-48E947B73000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B68A06-89C7-F35D-4929-BA39E3871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16274C-DAAC-98C2-D237-E7B82D0A5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135A4-35AE-7A43-A3B1-F338CE468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7375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D30BF-2E2C-F5CC-86C8-02F9F97B3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41F4ED-BB11-67BA-25EF-A41BCBBDC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567970-38F1-F732-500D-55B901A802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1F6050-E9D6-F187-6A4D-F6E32F5899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926BC2-D276-E2E3-AC5F-90DEE53E22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1557BE-2050-D82E-E76C-5D190455F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81A75-8218-F444-8A75-48E947B73000}" type="datetimeFigureOut">
              <a:rPr lang="en-US" smtClean="0"/>
              <a:t>4/24/26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02093A-00B1-D7B0-6F36-A3B1E9791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66E73A-3798-B4E5-DA13-B00FBA54F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135A4-35AE-7A43-A3B1-F338CE468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493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8ED20-A373-241B-F8A7-6113588AD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91AC30-27C0-05D4-EF2F-E634E4662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81A75-8218-F444-8A75-48E947B73000}" type="datetimeFigureOut">
              <a:rPr lang="en-US" smtClean="0"/>
              <a:t>4/24/26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A9A0F3-FC39-B165-C404-53640CBFD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72AB1-FE2C-5E37-0B2B-9E56BB6AF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135A4-35AE-7A43-A3B1-F338CE468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853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9891F2-14C1-180B-18CF-05D18E0DD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81A75-8218-F444-8A75-48E947B73000}" type="datetimeFigureOut">
              <a:rPr lang="en-US" smtClean="0"/>
              <a:t>4/24/26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640F0A-4CD8-2A36-CE04-1815EC8C0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0912BF-E3B2-5956-EE2C-759038D47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135A4-35AE-7A43-A3B1-F338CE468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204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3F22C-6DAE-D3AD-2E74-356D26005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2788C-D6A2-CD11-3FDD-5A42A59B3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B3628D-6C0A-7C43-61F4-95694C7C6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E519D-E4C5-EACB-E227-4387DE77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81A75-8218-F444-8A75-48E947B73000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E5BF0A-C04D-A64B-222C-DE58E06C5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1F14DD-3CA7-65FB-41B6-7D47F1E0A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135A4-35AE-7A43-A3B1-F338CE468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834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2C6D1-9E25-5320-5CC7-D03DE7431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B7AD73-1EA9-9636-7A4D-D1221F3260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0976B3-D304-49BC-1F15-108C9AB6B4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684CCA-50DA-24F0-E21F-3F8512B86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81A75-8218-F444-8A75-48E947B73000}" type="datetimeFigureOut">
              <a:rPr lang="en-US" smtClean="0"/>
              <a:t>4/24/26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17FCAC-6285-9E88-6540-FBF44D6E7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5F0A8E-C116-3E4E-1429-40D812284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135A4-35AE-7A43-A3B1-F338CE468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647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111A9-AA27-B2E8-3D8E-BA12BFCAA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37FD29-577A-5340-CD36-B3C651B255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368D9-4841-A284-E166-84DDEC8B5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81A75-8218-F444-8A75-48E947B73000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C93DC-C89D-9D7B-0F30-793F6AC25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5832C-B0F8-117D-2C3D-62F5C844B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135A4-35AE-7A43-A3B1-F338CE468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449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EB49E6-CBF5-5CCC-83A2-2CE0FA4511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2B56D8-238C-7634-797D-22F5CCF26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B0983-C85B-A1A2-CB94-9FDEAA9A2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81A75-8218-F444-8A75-48E947B73000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3BE985-AEB2-D45B-84FE-B5B2125FF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30B9E-8D19-290F-1AE0-812316B3D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135A4-35AE-7A43-A3B1-F338CE468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529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6D0F1E-94A8-E8C4-39A0-D735DEC07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6B827-114C-AF90-3F73-ECB6506685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43E51-87BA-0EE9-2060-E979FCE396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481A75-8218-F444-8A75-48E947B73000}" type="datetimeFigureOut">
              <a:rPr lang="en-US" smtClean="0"/>
              <a:t>4/24/26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AF43E-DECA-31EE-80A4-FF4AD84685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68DC1-D8DF-59D4-031A-20383B254E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7135A4-35AE-7A43-A3B1-F338CE4687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55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EB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69D7A22-B38E-B3AE-C731-1D9624D789E4}"/>
              </a:ext>
            </a:extLst>
          </p:cNvPr>
          <p:cNvSpPr txBox="1"/>
          <p:nvPr/>
        </p:nvSpPr>
        <p:spPr>
          <a:xfrm>
            <a:off x="164123" y="146781"/>
            <a:ext cx="1186375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230C33"/>
                </a:solidFill>
              </a:rPr>
              <a:t>Natural Language Inference - </a:t>
            </a:r>
            <a:r>
              <a:rPr lang="en-GB" dirty="0">
                <a:solidFill>
                  <a:srgbClr val="230C33"/>
                </a:solidFill>
              </a:rPr>
              <a:t>Given a premise and hypothesis, predict if the hypothesis is entailed or not </a:t>
            </a:r>
          </a:p>
          <a:p>
            <a:r>
              <a:rPr lang="en-US" sz="1400" dirty="0">
                <a:solidFill>
                  <a:srgbClr val="230C33"/>
                </a:solidFill>
              </a:rPr>
              <a:t>Training set: 24,000+ premise, hypothesis pairs, Dev set 6,000+ pairs, binary classification, (no external datasets)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97F58EC-8BC0-9333-A106-CED660FEB2EA}"/>
              </a:ext>
            </a:extLst>
          </p:cNvPr>
          <p:cNvSpPr txBox="1"/>
          <p:nvPr/>
        </p:nvSpPr>
        <p:spPr>
          <a:xfrm>
            <a:off x="164123" y="778745"/>
            <a:ext cx="565052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230C33"/>
                </a:solidFill>
              </a:rPr>
              <a:t>Category B: Deep learning without transformers</a:t>
            </a:r>
          </a:p>
          <a:p>
            <a:r>
              <a:rPr lang="en-US" sz="1100" dirty="0" err="1">
                <a:solidFill>
                  <a:srgbClr val="230C33"/>
                </a:solidFill>
              </a:rPr>
              <a:t>BiLSTM</a:t>
            </a:r>
            <a:r>
              <a:rPr lang="en-US" sz="1100" dirty="0">
                <a:solidFill>
                  <a:srgbClr val="230C33"/>
                </a:solidFill>
              </a:rPr>
              <a:t> + </a:t>
            </a:r>
            <a:r>
              <a:rPr lang="en-US" sz="1100" dirty="0" err="1">
                <a:solidFill>
                  <a:srgbClr val="230C33"/>
                </a:solidFill>
              </a:rPr>
              <a:t>esim</a:t>
            </a:r>
            <a:r>
              <a:rPr lang="en-US" sz="1100" dirty="0">
                <a:solidFill>
                  <a:srgbClr val="230C33"/>
                </a:solidFill>
              </a:rPr>
              <a:t> inspired.</a:t>
            </a:r>
          </a:p>
          <a:p>
            <a:endParaRPr lang="en-US" sz="1100" dirty="0">
              <a:solidFill>
                <a:srgbClr val="230C33"/>
              </a:solidFill>
            </a:endParaRPr>
          </a:p>
          <a:p>
            <a:r>
              <a:rPr lang="en-US" sz="1100" dirty="0">
                <a:solidFill>
                  <a:srgbClr val="230C33"/>
                </a:solidFill>
              </a:rPr>
              <a:t>Pipeline:</a:t>
            </a:r>
          </a:p>
          <a:p>
            <a:pPr marL="228600" indent="-228600">
              <a:buAutoNum type="arabicPeriod"/>
            </a:pPr>
            <a:r>
              <a:rPr lang="en-US" sz="1100" dirty="0" err="1">
                <a:solidFill>
                  <a:srgbClr val="230C33"/>
                </a:solidFill>
              </a:rPr>
              <a:t>Tokeniser</a:t>
            </a:r>
            <a:r>
              <a:rPr lang="en-US" sz="1100" dirty="0">
                <a:solidFill>
                  <a:srgbClr val="230C33"/>
                </a:solidFill>
              </a:rPr>
              <a:t> with vocab size 20,000, </a:t>
            </a:r>
            <a:r>
              <a:rPr lang="en-US" sz="1100" dirty="0" err="1">
                <a:solidFill>
                  <a:srgbClr val="230C33"/>
                </a:solidFill>
              </a:rPr>
              <a:t>oov</a:t>
            </a:r>
            <a:r>
              <a:rPr lang="en-US" sz="1100" dirty="0">
                <a:solidFill>
                  <a:srgbClr val="230C33"/>
                </a:solidFill>
              </a:rPr>
              <a:t> token </a:t>
            </a:r>
          </a:p>
          <a:p>
            <a:pPr marL="228600" indent="-228600">
              <a:buAutoNum type="arabicPeriod"/>
            </a:pPr>
            <a:r>
              <a:rPr lang="en-US" sz="1100" dirty="0">
                <a:solidFill>
                  <a:srgbClr val="230C33"/>
                </a:solidFill>
              </a:rPr>
              <a:t>Sequence lengths 95</a:t>
            </a:r>
            <a:r>
              <a:rPr lang="en-US" sz="1100" baseline="30000" dirty="0">
                <a:solidFill>
                  <a:srgbClr val="230C33"/>
                </a:solidFill>
              </a:rPr>
              <a:t>th</a:t>
            </a:r>
            <a:r>
              <a:rPr lang="en-US" sz="1100" dirty="0">
                <a:solidFill>
                  <a:srgbClr val="230C33"/>
                </a:solidFill>
              </a:rPr>
              <a:t> percentile of training data</a:t>
            </a:r>
          </a:p>
          <a:p>
            <a:pPr marL="228600" indent="-228600">
              <a:buAutoNum type="arabicPeriod"/>
            </a:pPr>
            <a:r>
              <a:rPr lang="en-US" sz="1100" dirty="0">
                <a:solidFill>
                  <a:srgbClr val="230C33"/>
                </a:solidFill>
              </a:rPr>
              <a:t>Pre-trained </a:t>
            </a:r>
            <a:r>
              <a:rPr lang="en-US" sz="1100" dirty="0" err="1">
                <a:solidFill>
                  <a:srgbClr val="230C33"/>
                </a:solidFill>
              </a:rPr>
              <a:t>GloVe</a:t>
            </a:r>
            <a:r>
              <a:rPr lang="en-US" sz="1100" dirty="0">
                <a:solidFill>
                  <a:srgbClr val="230C33"/>
                </a:solidFill>
              </a:rPr>
              <a:t> embeddings (untrained) - </a:t>
            </a:r>
            <a:r>
              <a:rPr lang="en-GB" sz="1100" dirty="0">
                <a:solidFill>
                  <a:srgbClr val="230C33"/>
                </a:solidFill>
              </a:rPr>
              <a:t>glove-wiki-gigaword-300</a:t>
            </a:r>
          </a:p>
          <a:p>
            <a:pPr marL="228600" indent="-228600">
              <a:buAutoNum type="arabicPeriod"/>
            </a:pPr>
            <a:r>
              <a:rPr lang="en-GB" sz="1100" dirty="0" err="1">
                <a:solidFill>
                  <a:srgbClr val="230C33"/>
                </a:solidFill>
              </a:rPr>
              <a:t>BiLSTM</a:t>
            </a:r>
            <a:r>
              <a:rPr lang="en-GB" sz="1100" dirty="0">
                <a:solidFill>
                  <a:srgbClr val="230C33"/>
                </a:solidFill>
              </a:rPr>
              <a:t> encoder (256 units) – encodes both premise and hypothesis</a:t>
            </a:r>
          </a:p>
          <a:p>
            <a:pPr marL="228600" indent="-228600">
              <a:buAutoNum type="arabicPeriod"/>
            </a:pPr>
            <a:r>
              <a:rPr lang="en-GB" sz="1100" dirty="0">
                <a:solidFill>
                  <a:srgbClr val="230C33"/>
                </a:solidFill>
              </a:rPr>
              <a:t>Cross attention – aligns each sentence to the other</a:t>
            </a:r>
          </a:p>
          <a:p>
            <a:pPr marL="228600" indent="-228600">
              <a:buAutoNum type="arabicPeriod"/>
            </a:pPr>
            <a:r>
              <a:rPr lang="en-GB" sz="1100" dirty="0">
                <a:solidFill>
                  <a:srgbClr val="230C33"/>
                </a:solidFill>
              </a:rPr>
              <a:t>Inference layer – computes absolute difference and element-wise product of of encoded vs aligned representations, then concatenates them</a:t>
            </a:r>
          </a:p>
          <a:p>
            <a:pPr marL="228600" indent="-228600">
              <a:buAutoNum type="arabicPeriod"/>
            </a:pPr>
            <a:r>
              <a:rPr lang="en-GB" sz="1100" dirty="0" err="1">
                <a:solidFill>
                  <a:srgbClr val="230C33"/>
                </a:solidFill>
              </a:rPr>
              <a:t>BiLSTM</a:t>
            </a:r>
            <a:r>
              <a:rPr lang="en-GB" sz="1100" dirty="0">
                <a:solidFill>
                  <a:srgbClr val="230C33"/>
                </a:solidFill>
              </a:rPr>
              <a:t> – process the enhanced representations</a:t>
            </a:r>
          </a:p>
          <a:p>
            <a:pPr marL="228600" indent="-228600">
              <a:buAutoNum type="arabicPeriod"/>
            </a:pPr>
            <a:r>
              <a:rPr lang="en-GB" sz="1100" dirty="0">
                <a:solidFill>
                  <a:srgbClr val="230C33"/>
                </a:solidFill>
              </a:rPr>
              <a:t>Pooling – average + max pooling concatenated for both premise and hypothesis</a:t>
            </a:r>
          </a:p>
          <a:p>
            <a:pPr marL="228600" indent="-228600">
              <a:buAutoNum type="arabicPeriod"/>
            </a:pPr>
            <a:r>
              <a:rPr lang="en-GB" sz="1100" dirty="0">
                <a:solidFill>
                  <a:srgbClr val="230C33"/>
                </a:solidFill>
              </a:rPr>
              <a:t>Final interaction – absolute difference and element wise product of the 2 pooled vectors, all concatenated.</a:t>
            </a:r>
          </a:p>
          <a:p>
            <a:pPr marL="228600" indent="-228600">
              <a:buAutoNum type="arabicPeriod"/>
            </a:pPr>
            <a:r>
              <a:rPr lang="en-GB" sz="1100" dirty="0">
                <a:solidFill>
                  <a:srgbClr val="230C33"/>
                </a:solidFill>
              </a:rPr>
              <a:t>Classifier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1DDD2B6F-89F9-3B24-D879-C1769EC198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83909"/>
              </p:ext>
            </p:extLst>
          </p:nvPr>
        </p:nvGraphicFramePr>
        <p:xfrm>
          <a:off x="8164173" y="3624146"/>
          <a:ext cx="3863704" cy="297004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965926">
                  <a:extLst>
                    <a:ext uri="{9D8B030D-6E8A-4147-A177-3AD203B41FA5}">
                      <a16:colId xmlns:a16="http://schemas.microsoft.com/office/drawing/2014/main" val="609206551"/>
                    </a:ext>
                  </a:extLst>
                </a:gridCol>
                <a:gridCol w="965926">
                  <a:extLst>
                    <a:ext uri="{9D8B030D-6E8A-4147-A177-3AD203B41FA5}">
                      <a16:colId xmlns:a16="http://schemas.microsoft.com/office/drawing/2014/main" val="657075687"/>
                    </a:ext>
                  </a:extLst>
                </a:gridCol>
                <a:gridCol w="965926">
                  <a:extLst>
                    <a:ext uri="{9D8B030D-6E8A-4147-A177-3AD203B41FA5}">
                      <a16:colId xmlns:a16="http://schemas.microsoft.com/office/drawing/2014/main" val="3336551999"/>
                    </a:ext>
                  </a:extLst>
                </a:gridCol>
                <a:gridCol w="965926">
                  <a:extLst>
                    <a:ext uri="{9D8B030D-6E8A-4147-A177-3AD203B41FA5}">
                      <a16:colId xmlns:a16="http://schemas.microsoft.com/office/drawing/2014/main" val="1724074924"/>
                    </a:ext>
                  </a:extLst>
                </a:gridCol>
              </a:tblGrid>
              <a:tr h="675010">
                <a:tc>
                  <a:txBody>
                    <a:bodyPr/>
                    <a:lstStyle/>
                    <a:p>
                      <a:r>
                        <a:rPr lang="en-US" sz="12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Macro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Mathew’s Coefficient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301768"/>
                  </a:ext>
                </a:extLst>
              </a:tr>
              <a:tr h="472507">
                <a:tc>
                  <a:txBody>
                    <a:bodyPr/>
                    <a:lstStyle/>
                    <a:p>
                      <a:r>
                        <a:rPr lang="en-US" sz="1200" dirty="0"/>
                        <a:t>LSTM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0.6606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0.6603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0.3206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22643"/>
                  </a:ext>
                </a:extLst>
              </a:tr>
              <a:tr h="675010">
                <a:tc>
                  <a:txBody>
                    <a:bodyPr/>
                    <a:lstStyle/>
                    <a:p>
                      <a:r>
                        <a:rPr lang="en-US" sz="1200" dirty="0"/>
                        <a:t>Our category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B27C66"/>
                          </a:solidFill>
                        </a:rPr>
                        <a:t>0.7099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B27C66"/>
                          </a:solidFill>
                        </a:rPr>
                        <a:t>0.7092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B27C66"/>
                          </a:solidFill>
                        </a:rPr>
                        <a:t>0.4188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93327"/>
                  </a:ext>
                </a:extLst>
              </a:tr>
              <a:tr h="472507">
                <a:tc>
                  <a:txBody>
                    <a:bodyPr/>
                    <a:lstStyle/>
                    <a:p>
                      <a:r>
                        <a:rPr lang="en-US" sz="1200" dirty="0"/>
                        <a:t>BERT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0.8202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0.8198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0.6400</a:t>
                      </a: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5757315"/>
                  </a:ext>
                </a:extLst>
              </a:tr>
              <a:tr h="675010">
                <a:tc>
                  <a:txBody>
                    <a:bodyPr/>
                    <a:lstStyle/>
                    <a:p>
                      <a:r>
                        <a:rPr lang="en-US" sz="1200" dirty="0"/>
                        <a:t>Our category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B27C66"/>
                          </a:solidFill>
                        </a:rPr>
                        <a:t>0.8878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B27C66"/>
                          </a:solidFill>
                        </a:rPr>
                        <a:t>0.8876</a:t>
                      </a:r>
                      <a:r>
                        <a:rPr lang="en-US" sz="12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B27C66"/>
                          </a:solidFill>
                        </a:rPr>
                        <a:t>--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320868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9EFC56C8-6E63-8907-38E9-A4CD925401B8}"/>
              </a:ext>
            </a:extLst>
          </p:cNvPr>
          <p:cNvSpPr txBox="1"/>
          <p:nvPr/>
        </p:nvSpPr>
        <p:spPr>
          <a:xfrm>
            <a:off x="5994144" y="805761"/>
            <a:ext cx="565052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230C33"/>
                </a:solidFill>
              </a:rPr>
              <a:t>Category C:</a:t>
            </a:r>
          </a:p>
          <a:p>
            <a:endParaRPr lang="en-US" sz="1100" dirty="0">
              <a:solidFill>
                <a:srgbClr val="230C33"/>
              </a:solidFill>
            </a:endParaRPr>
          </a:p>
          <a:p>
            <a:r>
              <a:rPr lang="en-US" sz="1100" dirty="0">
                <a:solidFill>
                  <a:srgbClr val="230C33"/>
                </a:solidFill>
              </a:rPr>
              <a:t>Pipeline:</a:t>
            </a:r>
          </a:p>
          <a:p>
            <a:pPr marL="228600" indent="-228600">
              <a:buAutoNum type="arabicPeriod"/>
            </a:pPr>
            <a:r>
              <a:rPr lang="en-US" sz="1100" dirty="0" err="1">
                <a:solidFill>
                  <a:srgbClr val="230C33"/>
                </a:solidFill>
              </a:rPr>
              <a:t>Tokeniser</a:t>
            </a:r>
            <a:endParaRPr lang="en-US" sz="1100" dirty="0">
              <a:solidFill>
                <a:srgbClr val="230C33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0AC46D0-59A6-0C66-3611-084E1CE3E122}"/>
              </a:ext>
            </a:extLst>
          </p:cNvPr>
          <p:cNvSpPr txBox="1"/>
          <p:nvPr/>
        </p:nvSpPr>
        <p:spPr>
          <a:xfrm>
            <a:off x="164123" y="3624146"/>
            <a:ext cx="2757497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rgbClr val="FF0000"/>
                </a:solidFill>
              </a:rPr>
              <a:t>Error</a:t>
            </a:r>
            <a:r>
              <a:rPr lang="en-GB" sz="1100" dirty="0">
                <a:solidFill>
                  <a:srgbClr val="230C33"/>
                </a:solidFill>
              </a:rPr>
              <a:t> Analysis B:</a:t>
            </a:r>
          </a:p>
          <a:p>
            <a:pPr marL="171450" indent="-171450">
              <a:buFontTx/>
              <a:buChar char="-"/>
            </a:pPr>
            <a:r>
              <a:rPr lang="en-GB" sz="1100" dirty="0">
                <a:solidFill>
                  <a:srgbClr val="230C33"/>
                </a:solidFill>
              </a:rPr>
              <a:t>In some examples the model wrongly predicted entailment since both the sentences have the same word (e.g. the same place “Bel Air”).</a:t>
            </a:r>
          </a:p>
          <a:p>
            <a:pPr marL="171450" indent="-171450">
              <a:buFontTx/>
              <a:buChar char="-"/>
            </a:pPr>
            <a:r>
              <a:rPr lang="en-GB" sz="1100" dirty="0">
                <a:solidFill>
                  <a:srgbClr val="230C33"/>
                </a:solidFill>
              </a:rPr>
              <a:t>Miss entailment when the other sentence is paraphrased from the other.</a:t>
            </a:r>
          </a:p>
          <a:p>
            <a:pPr marL="171450" indent="-171450">
              <a:buFontTx/>
              <a:buChar char="-"/>
            </a:pPr>
            <a:r>
              <a:rPr lang="en-GB" sz="1100" dirty="0">
                <a:solidFill>
                  <a:srgbClr val="230C33"/>
                </a:solidFill>
              </a:rPr>
              <a:t>Also misses entailment about finer details like pronouns: books about my life – he wrote an autobiography about his life.</a:t>
            </a:r>
          </a:p>
          <a:p>
            <a:pPr marL="628650" lvl="1" indent="-171450">
              <a:buFontTx/>
              <a:buChar char="-"/>
            </a:pPr>
            <a:r>
              <a:rPr lang="en-GB" sz="1100" dirty="0">
                <a:solidFill>
                  <a:srgbClr val="230C33"/>
                </a:solidFill>
              </a:rPr>
              <a:t>Model understood autobiography as a definition but didn’t pick up on the pronoun.</a:t>
            </a:r>
          </a:p>
          <a:p>
            <a:endParaRPr lang="en-US" sz="11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7A381B0-15DB-ABFF-AA2A-7D468CD8EE3F}"/>
              </a:ext>
            </a:extLst>
          </p:cNvPr>
          <p:cNvSpPr txBox="1"/>
          <p:nvPr/>
        </p:nvSpPr>
        <p:spPr>
          <a:xfrm>
            <a:off x="2921620" y="3624146"/>
            <a:ext cx="27574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rgbClr val="FF0000"/>
                </a:solidFill>
              </a:rPr>
              <a:t>Error</a:t>
            </a:r>
            <a:r>
              <a:rPr lang="en-GB" sz="1100" dirty="0">
                <a:solidFill>
                  <a:srgbClr val="230C33"/>
                </a:solidFill>
              </a:rPr>
              <a:t> Analysis C:</a:t>
            </a:r>
          </a:p>
          <a:p>
            <a:endParaRPr lang="en-US" sz="11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5AC69B0-4422-440E-D3F0-372028E9890D}"/>
              </a:ext>
            </a:extLst>
          </p:cNvPr>
          <p:cNvSpPr txBox="1"/>
          <p:nvPr/>
        </p:nvSpPr>
        <p:spPr>
          <a:xfrm>
            <a:off x="5406675" y="3675792"/>
            <a:ext cx="275749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Ethical Considerations and limitations:</a:t>
            </a:r>
          </a:p>
          <a:p>
            <a:pPr marL="171450" indent="-171450">
              <a:buFontTx/>
              <a:buChar char="-"/>
            </a:pPr>
            <a:r>
              <a:rPr lang="en-US" sz="1100" dirty="0"/>
              <a:t>Binary classifier rather than including neutral</a:t>
            </a:r>
          </a:p>
          <a:p>
            <a:pPr marL="171450" indent="-171450">
              <a:buFontTx/>
              <a:buChar char="-"/>
            </a:pPr>
            <a:r>
              <a:rPr lang="en-US" sz="1100" dirty="0"/>
              <a:t>Limited to a vocab size of 20,000 rare words are mapped to OOV token</a:t>
            </a:r>
          </a:p>
          <a:p>
            <a:pPr marL="171450" indent="-171450">
              <a:buFontTx/>
              <a:buChar char="-"/>
            </a:pPr>
            <a:r>
              <a:rPr lang="en-US" sz="1100" dirty="0"/>
              <a:t>If the dataset contains cultural or gender bias this can be represented in the results</a:t>
            </a:r>
          </a:p>
          <a:p>
            <a:pPr marL="171450" indent="-171450">
              <a:buFontTx/>
              <a:buChar char="-"/>
            </a:pPr>
            <a:r>
              <a:rPr lang="en-US" sz="1100" dirty="0"/>
              <a:t>If used for high stakes applications a misclassification can be detrimental</a:t>
            </a:r>
          </a:p>
          <a:p>
            <a:pPr marL="171450" indent="-171450">
              <a:buFontTx/>
              <a:buChar char="-"/>
            </a:pPr>
            <a:endParaRPr lang="en-US" sz="1100" dirty="0"/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282230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</TotalTime>
  <Words>325</Words>
  <Application>Microsoft Macintosh PowerPoint</Application>
  <PresentationFormat>Widescreen</PresentationFormat>
  <Paragraphs>51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Koshovyy</dc:creator>
  <cp:lastModifiedBy>Daniel Koshovyy</cp:lastModifiedBy>
  <cp:revision>1</cp:revision>
  <dcterms:created xsi:type="dcterms:W3CDTF">2026-04-24T12:32:30Z</dcterms:created>
  <dcterms:modified xsi:type="dcterms:W3CDTF">2026-04-24T15:03:36Z</dcterms:modified>
</cp:coreProperties>
</file>